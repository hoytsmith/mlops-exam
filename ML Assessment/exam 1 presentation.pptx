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3014C8-80D4-94E1-5BB8-BB56F235D06F}" v="1447" dt="2026-05-07T13:41:57.8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logo with blue dots&#10;&#10;AI-generated content may be incorrect.">
            <a:extLst>
              <a:ext uri="{FF2B5EF4-FFF2-40B4-BE49-F238E27FC236}">
                <a16:creationId xmlns:a16="http://schemas.microsoft.com/office/drawing/2014/main" id="{FA033EE5-7615-C7B3-C7DD-90D3E0727745}"/>
              </a:ext>
            </a:extLst>
          </p:cNvPr>
          <p:cNvPicPr>
            <a:picLocks noChangeAspect="1"/>
          </p:cNvPicPr>
          <p:nvPr/>
        </p:nvPicPr>
        <p:blipFill>
          <a:blip r:embed="rId2"/>
          <a:srcRect b="-877"/>
          <a:stretch>
            <a:fillRect/>
          </a:stretch>
        </p:blipFill>
        <p:spPr>
          <a:xfrm>
            <a:off x="1289303" y="1119116"/>
            <a:ext cx="5136499" cy="2213635"/>
          </a:xfrm>
          <a:prstGeom prst="rect">
            <a:avLst/>
          </a:prstGeom>
        </p:spPr>
      </p:pic>
      <p:sp>
        <p:nvSpPr>
          <p:cNvPr id="11" name="Right Triangle 1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89304" y="3429000"/>
            <a:ext cx="8921672" cy="1713305"/>
          </a:xfrm>
        </p:spPr>
        <p:txBody>
          <a:bodyPr anchor="b">
            <a:normAutofit/>
          </a:bodyPr>
          <a:lstStyle/>
          <a:p>
            <a:pPr algn="l"/>
            <a:r>
              <a:rPr lang="en-US" sz="6800"/>
              <a:t>Machine Learning Exam</a:t>
            </a:r>
          </a:p>
        </p:txBody>
      </p:sp>
      <p:sp>
        <p:nvSpPr>
          <p:cNvPr id="3" name="Subtitle 2"/>
          <p:cNvSpPr>
            <a:spLocks noGrp="1"/>
          </p:cNvSpPr>
          <p:nvPr>
            <p:ph type="subTitle" idx="1"/>
          </p:nvPr>
        </p:nvSpPr>
        <p:spPr>
          <a:xfrm>
            <a:off x="1289303" y="5142305"/>
            <a:ext cx="7321298" cy="753165"/>
          </a:xfrm>
        </p:spPr>
        <p:txBody>
          <a:bodyPr vert="horz" lIns="91440" tIns="45720" rIns="91440" bIns="45720" rtlCol="0" anchor="t">
            <a:normAutofit/>
          </a:bodyPr>
          <a:lstStyle/>
          <a:p>
            <a:pPr algn="l"/>
            <a:r>
              <a:rPr lang="en-US"/>
              <a:t>By Hoyt Smith</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75CC0-0602-E109-AC7F-EB999EA5A155}"/>
              </a:ext>
            </a:extLst>
          </p:cNvPr>
          <p:cNvSpPr>
            <a:spLocks noGrp="1"/>
          </p:cNvSpPr>
          <p:nvPr>
            <p:ph type="title"/>
          </p:nvPr>
        </p:nvSpPr>
        <p:spPr/>
        <p:txBody>
          <a:bodyPr/>
          <a:lstStyle/>
          <a:p>
            <a:r>
              <a:rPr lang="en-US"/>
              <a:t>The Assignment</a:t>
            </a:r>
          </a:p>
        </p:txBody>
      </p:sp>
      <p:sp>
        <p:nvSpPr>
          <p:cNvPr id="3" name="Content Placeholder 2">
            <a:extLst>
              <a:ext uri="{FF2B5EF4-FFF2-40B4-BE49-F238E27FC236}">
                <a16:creationId xmlns:a16="http://schemas.microsoft.com/office/drawing/2014/main" id="{8267E2D1-BF55-5A0B-77EB-B35A19439169}"/>
              </a:ext>
            </a:extLst>
          </p:cNvPr>
          <p:cNvSpPr>
            <a:spLocks noGrp="1"/>
          </p:cNvSpPr>
          <p:nvPr>
            <p:ph idx="1"/>
          </p:nvPr>
        </p:nvSpPr>
        <p:spPr/>
        <p:txBody>
          <a:bodyPr vert="horz" lIns="91440" tIns="45720" rIns="91440" bIns="45720" rtlCol="0" anchor="t">
            <a:normAutofit/>
          </a:bodyPr>
          <a:lstStyle/>
          <a:p>
            <a:endParaRPr lang="en-US" dirty="0"/>
          </a:p>
          <a:p>
            <a:r>
              <a:rPr lang="en-US"/>
              <a:t>Machine Learning:</a:t>
            </a:r>
          </a:p>
          <a:p>
            <a:pPr lvl="1">
              <a:buFont typeface="Courier New" panose="020B0604020202020204" pitchFamily="34" charset="0"/>
              <a:buChar char="o"/>
            </a:pPr>
            <a:r>
              <a:rPr lang="en-US"/>
              <a:t>Train a model to classify different breast cancer types</a:t>
            </a:r>
          </a:p>
          <a:p>
            <a:pPr lvl="1">
              <a:buFont typeface="Courier New" panose="020B0604020202020204" pitchFamily="34" charset="0"/>
              <a:buChar char="o"/>
            </a:pPr>
            <a:r>
              <a:rPr lang="en-US"/>
              <a:t>Explain the model and its reliability</a:t>
            </a:r>
            <a:endParaRPr lang="en-US" dirty="0"/>
          </a:p>
          <a:p>
            <a:pPr lvl="1">
              <a:buFont typeface="Courier New" panose="020B0604020202020204" pitchFamily="34" charset="0"/>
              <a:buChar char="o"/>
            </a:pPr>
            <a:endParaRPr lang="en-US" dirty="0"/>
          </a:p>
          <a:p>
            <a:pPr lvl="1">
              <a:buFont typeface="Courier New" panose="020B0604020202020204" pitchFamily="34" charset="0"/>
              <a:buChar char="o"/>
            </a:pPr>
            <a:endParaRPr lang="en-US" dirty="0"/>
          </a:p>
          <a:p>
            <a:r>
              <a:rPr lang="en-US"/>
              <a:t>Deep learning &amp; SHAP</a:t>
            </a:r>
          </a:p>
          <a:p>
            <a:pPr lvl="1">
              <a:buFont typeface="Courier New" panose="020B0604020202020204" pitchFamily="34" charset="0"/>
              <a:buChar char="o"/>
            </a:pPr>
            <a:r>
              <a:rPr lang="en-US"/>
              <a:t>Train a Neural Network to classify articles of clothing from images</a:t>
            </a:r>
            <a:endParaRPr lang="en-US" dirty="0"/>
          </a:p>
          <a:p>
            <a:pPr lvl="1">
              <a:buFont typeface="Courier New" panose="020B0604020202020204" pitchFamily="34" charset="0"/>
              <a:buChar char="o"/>
            </a:pPr>
            <a:r>
              <a:rPr lang="en-US"/>
              <a:t>Use SHAP to explain and visualize how it works</a:t>
            </a:r>
          </a:p>
        </p:txBody>
      </p:sp>
    </p:spTree>
    <p:extLst>
      <p:ext uri="{BB962C8B-B14F-4D97-AF65-F5344CB8AC3E}">
        <p14:creationId xmlns:p14="http://schemas.microsoft.com/office/powerpoint/2010/main" val="867307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1CAE-B3B9-5B59-5618-E6E323D01984}"/>
              </a:ext>
            </a:extLst>
          </p:cNvPr>
          <p:cNvSpPr>
            <a:spLocks noGrp="1"/>
          </p:cNvSpPr>
          <p:nvPr>
            <p:ph type="title"/>
          </p:nvPr>
        </p:nvSpPr>
        <p:spPr/>
        <p:txBody>
          <a:bodyPr/>
          <a:lstStyle/>
          <a:p>
            <a:r>
              <a:rPr lang="en-US"/>
              <a:t>Machine Learning: The Dataset</a:t>
            </a:r>
          </a:p>
        </p:txBody>
      </p:sp>
      <p:sp>
        <p:nvSpPr>
          <p:cNvPr id="3" name="Content Placeholder 2">
            <a:extLst>
              <a:ext uri="{FF2B5EF4-FFF2-40B4-BE49-F238E27FC236}">
                <a16:creationId xmlns:a16="http://schemas.microsoft.com/office/drawing/2014/main" id="{74E064C3-F2D5-C9DB-6AC4-48D045D6A3F1}"/>
              </a:ext>
            </a:extLst>
          </p:cNvPr>
          <p:cNvSpPr>
            <a:spLocks noGrp="1"/>
          </p:cNvSpPr>
          <p:nvPr>
            <p:ph idx="1"/>
          </p:nvPr>
        </p:nvSpPr>
        <p:spPr/>
        <p:txBody>
          <a:bodyPr vert="horz" lIns="91440" tIns="45720" rIns="91440" bIns="45720" rtlCol="0" anchor="t">
            <a:normAutofit/>
          </a:bodyPr>
          <a:lstStyle/>
          <a:p>
            <a:endParaRPr lang="en-US" dirty="0"/>
          </a:p>
          <a:p>
            <a:r>
              <a:rPr lang="en-US" dirty="0"/>
              <a:t>The dataset contains 157 samples (rather low)</a:t>
            </a:r>
          </a:p>
          <a:p>
            <a:endParaRPr lang="en-US" dirty="0"/>
          </a:p>
          <a:p>
            <a:r>
              <a:rPr lang="en-US"/>
              <a:t>The dataset has 59 features (and a class feature)</a:t>
            </a:r>
          </a:p>
          <a:p>
            <a:endParaRPr lang="en-US" dirty="0"/>
          </a:p>
          <a:p>
            <a:r>
              <a:rPr lang="en-US" dirty="0"/>
              <a:t>3 different classifications (</a:t>
            </a:r>
            <a:r>
              <a:rPr lang="en-US" dirty="0">
                <a:latin typeface="Aptos"/>
              </a:rPr>
              <a:t>b'HER2+', </a:t>
            </a:r>
            <a:r>
              <a:rPr lang="en-US" dirty="0" err="1">
                <a:latin typeface="Aptos"/>
              </a:rPr>
              <a:t>b'HR</a:t>
            </a:r>
            <a:r>
              <a:rPr lang="en-US" dirty="0">
                <a:latin typeface="Aptos"/>
              </a:rPr>
              <a:t>+', </a:t>
            </a:r>
            <a:r>
              <a:rPr lang="en-US" dirty="0" err="1">
                <a:latin typeface="Aptos"/>
              </a:rPr>
              <a:t>b'TN</a:t>
            </a:r>
            <a:r>
              <a:rPr lang="en-US" dirty="0">
                <a:latin typeface="Aptos"/>
              </a:rPr>
              <a:t>'</a:t>
            </a:r>
            <a:r>
              <a:rPr lang="en-US" dirty="0"/>
              <a:t>)</a:t>
            </a:r>
          </a:p>
          <a:p>
            <a:endParaRPr lang="en-US" dirty="0"/>
          </a:p>
          <a:p>
            <a:r>
              <a:rPr lang="en-US"/>
              <a:t>Only 2 missing pieces of data (substituted using mean values</a:t>
            </a:r>
            <a:r>
              <a:rPr lang="en-US" dirty="0"/>
              <a:t>)</a:t>
            </a:r>
            <a:endParaRPr lang="en-US"/>
          </a:p>
          <a:p>
            <a:endParaRPr lang="en-US" dirty="0"/>
          </a:p>
        </p:txBody>
      </p:sp>
    </p:spTree>
    <p:extLst>
      <p:ext uri="{BB962C8B-B14F-4D97-AF65-F5344CB8AC3E}">
        <p14:creationId xmlns:p14="http://schemas.microsoft.com/office/powerpoint/2010/main" val="3549842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51F6-EC37-A2F5-77D9-6E682C8631E6}"/>
              </a:ext>
            </a:extLst>
          </p:cNvPr>
          <p:cNvSpPr>
            <a:spLocks noGrp="1"/>
          </p:cNvSpPr>
          <p:nvPr>
            <p:ph type="title"/>
          </p:nvPr>
        </p:nvSpPr>
        <p:spPr/>
        <p:txBody>
          <a:bodyPr/>
          <a:lstStyle/>
          <a:p>
            <a:r>
              <a:rPr lang="en-US"/>
              <a:t>Machine Learning: The Model</a:t>
            </a:r>
          </a:p>
        </p:txBody>
      </p:sp>
      <p:sp>
        <p:nvSpPr>
          <p:cNvPr id="3" name="Content Placeholder 2">
            <a:extLst>
              <a:ext uri="{FF2B5EF4-FFF2-40B4-BE49-F238E27FC236}">
                <a16:creationId xmlns:a16="http://schemas.microsoft.com/office/drawing/2014/main" id="{1EE8C0D2-E5DB-D41E-CF7A-883BCA061BBB}"/>
              </a:ext>
            </a:extLst>
          </p:cNvPr>
          <p:cNvSpPr>
            <a:spLocks noGrp="1"/>
          </p:cNvSpPr>
          <p:nvPr>
            <p:ph idx="1"/>
          </p:nvPr>
        </p:nvSpPr>
        <p:spPr/>
        <p:txBody>
          <a:bodyPr vert="horz" lIns="91440" tIns="45720" rIns="91440" bIns="45720" rtlCol="0" anchor="t">
            <a:normAutofit/>
          </a:bodyPr>
          <a:lstStyle/>
          <a:p>
            <a:endParaRPr lang="en-US"/>
          </a:p>
          <a:p>
            <a:r>
              <a:rPr lang="en-US"/>
              <a:t>I used an SVM with linear kernel</a:t>
            </a:r>
          </a:p>
          <a:p>
            <a:endParaRPr lang="en-US" dirty="0"/>
          </a:p>
          <a:p>
            <a:r>
              <a:rPr lang="en-US"/>
              <a:t>Using grid search I found the best parameters to be:</a:t>
            </a:r>
            <a:endParaRPr lang="en-US" dirty="0"/>
          </a:p>
          <a:p>
            <a:pPr lvl="1">
              <a:buFont typeface="Courier New" panose="020B0604020202020204" pitchFamily="34" charset="0"/>
              <a:buChar char="o"/>
            </a:pPr>
            <a:r>
              <a:rPr lang="en-US"/>
              <a:t>C: 0.175</a:t>
            </a:r>
          </a:p>
          <a:p>
            <a:pPr lvl="1">
              <a:buFont typeface="Courier New" panose="020B0604020202020204" pitchFamily="34" charset="0"/>
              <a:buChar char="o"/>
            </a:pPr>
            <a:r>
              <a:rPr lang="en-US"/>
              <a:t>Gamma: 0.0001</a:t>
            </a:r>
            <a:endParaRPr lang="en-US" dirty="0"/>
          </a:p>
          <a:p>
            <a:pPr lvl="1">
              <a:buFont typeface="Courier New" panose="020B0604020202020204" pitchFamily="34" charset="0"/>
              <a:buChar char="o"/>
            </a:pPr>
            <a:endParaRPr lang="en-US" dirty="0"/>
          </a:p>
          <a:p>
            <a:endParaRPr lang="en-US" dirty="0"/>
          </a:p>
        </p:txBody>
      </p:sp>
    </p:spTree>
    <p:extLst>
      <p:ext uri="{BB962C8B-B14F-4D97-AF65-F5344CB8AC3E}">
        <p14:creationId xmlns:p14="http://schemas.microsoft.com/office/powerpoint/2010/main" val="2871886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2A76F-F07E-449D-B94A-6E572924AEA9}"/>
              </a:ext>
            </a:extLst>
          </p:cNvPr>
          <p:cNvSpPr>
            <a:spLocks noGrp="1"/>
          </p:cNvSpPr>
          <p:nvPr>
            <p:ph type="title"/>
          </p:nvPr>
        </p:nvSpPr>
        <p:spPr/>
        <p:txBody>
          <a:bodyPr/>
          <a:lstStyle/>
          <a:p>
            <a:r>
              <a:rPr lang="en-US"/>
              <a:t>Machine Learning: Evaluating the Model</a:t>
            </a:r>
          </a:p>
        </p:txBody>
      </p:sp>
      <p:pic>
        <p:nvPicPr>
          <p:cNvPr id="4" name="Content Placeholder 3">
            <a:extLst>
              <a:ext uri="{FF2B5EF4-FFF2-40B4-BE49-F238E27FC236}">
                <a16:creationId xmlns:a16="http://schemas.microsoft.com/office/drawing/2014/main" id="{7D84BB18-035F-936C-8FF7-59262F427F71}"/>
              </a:ext>
            </a:extLst>
          </p:cNvPr>
          <p:cNvPicPr>
            <a:picLocks noGrp="1" noChangeAspect="1"/>
          </p:cNvPicPr>
          <p:nvPr>
            <p:ph idx="1"/>
          </p:nvPr>
        </p:nvPicPr>
        <p:blipFill>
          <a:blip r:embed="rId2"/>
          <a:stretch>
            <a:fillRect/>
          </a:stretch>
        </p:blipFill>
        <p:spPr>
          <a:xfrm>
            <a:off x="7322723" y="2100159"/>
            <a:ext cx="4029075" cy="3581400"/>
          </a:xfrm>
          <a:prstGeom prst="rect">
            <a:avLst/>
          </a:prstGeom>
        </p:spPr>
      </p:pic>
      <p:sp>
        <p:nvSpPr>
          <p:cNvPr id="6" name="TextBox 5">
            <a:extLst>
              <a:ext uri="{FF2B5EF4-FFF2-40B4-BE49-F238E27FC236}">
                <a16:creationId xmlns:a16="http://schemas.microsoft.com/office/drawing/2014/main" id="{D4A1AD9E-3C4D-F971-3DB1-447365F2DBD4}"/>
              </a:ext>
            </a:extLst>
          </p:cNvPr>
          <p:cNvSpPr txBox="1"/>
          <p:nvPr/>
        </p:nvSpPr>
        <p:spPr>
          <a:xfrm>
            <a:off x="839304" y="2363304"/>
            <a:ext cx="6173303"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Accuracy of the model:</a:t>
            </a:r>
            <a:endParaRPr lang="en-US" sz="2400" dirty="0"/>
          </a:p>
          <a:p>
            <a:pPr marL="342900" indent="-342900">
              <a:buFont typeface="Arial"/>
              <a:buChar char="•"/>
            </a:pPr>
            <a:r>
              <a:rPr lang="en-US" sz="2400"/>
              <a:t>Train data: 0.93</a:t>
            </a:r>
          </a:p>
          <a:p>
            <a:pPr marL="342900" indent="-342900">
              <a:buFont typeface="Arial"/>
              <a:buChar char="•"/>
            </a:pPr>
            <a:r>
              <a:rPr lang="en-US" sz="2400"/>
              <a:t>Test data: 0.83</a:t>
            </a:r>
          </a:p>
          <a:p>
            <a:endParaRPr lang="en-US" sz="2400" dirty="0"/>
          </a:p>
          <a:p>
            <a:pPr>
              <a:buFont typeface="Arial"/>
            </a:pPr>
            <a:endParaRPr lang="en-US" sz="2400" dirty="0"/>
          </a:p>
          <a:p>
            <a:pPr>
              <a:buFont typeface="Arial"/>
            </a:pPr>
            <a:r>
              <a:rPr lang="en-US" sz="2400" dirty="0"/>
              <a:t>In the confusion matrix on the right, we can see how reliably the model accurately predicts the different types of breast cancer.</a:t>
            </a:r>
          </a:p>
        </p:txBody>
      </p:sp>
    </p:spTree>
    <p:extLst>
      <p:ext uri="{BB962C8B-B14F-4D97-AF65-F5344CB8AC3E}">
        <p14:creationId xmlns:p14="http://schemas.microsoft.com/office/powerpoint/2010/main" val="1722933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E9B46-E37A-B253-B13C-96BD2A886FA9}"/>
              </a:ext>
            </a:extLst>
          </p:cNvPr>
          <p:cNvSpPr>
            <a:spLocks noGrp="1"/>
          </p:cNvSpPr>
          <p:nvPr>
            <p:ph type="title"/>
          </p:nvPr>
        </p:nvSpPr>
        <p:spPr/>
        <p:txBody>
          <a:bodyPr/>
          <a:lstStyle/>
          <a:p>
            <a:r>
              <a:rPr lang="en-US"/>
              <a:t>Machine Learning: Most Important Features</a:t>
            </a:r>
          </a:p>
        </p:txBody>
      </p:sp>
      <p:pic>
        <p:nvPicPr>
          <p:cNvPr id="5" name="Content Placeholder 4" descr="A bar graph with blue and white stripes&#10;&#10;AI-generated content may be incorrect.">
            <a:extLst>
              <a:ext uri="{FF2B5EF4-FFF2-40B4-BE49-F238E27FC236}">
                <a16:creationId xmlns:a16="http://schemas.microsoft.com/office/drawing/2014/main" id="{43EE91B7-24D0-D92E-D7CA-E6F27B31517F}"/>
              </a:ext>
            </a:extLst>
          </p:cNvPr>
          <p:cNvPicPr>
            <a:picLocks noGrp="1" noChangeAspect="1"/>
          </p:cNvPicPr>
          <p:nvPr>
            <p:ph idx="1"/>
          </p:nvPr>
        </p:nvPicPr>
        <p:blipFill>
          <a:blip r:embed="rId2"/>
          <a:stretch>
            <a:fillRect/>
          </a:stretch>
        </p:blipFill>
        <p:spPr>
          <a:xfrm>
            <a:off x="-1104" y="1350113"/>
            <a:ext cx="12194208" cy="5512187"/>
          </a:xfrm>
          <a:prstGeom prst="rect">
            <a:avLst/>
          </a:prstGeom>
        </p:spPr>
      </p:pic>
    </p:spTree>
    <p:extLst>
      <p:ext uri="{BB962C8B-B14F-4D97-AF65-F5344CB8AC3E}">
        <p14:creationId xmlns:p14="http://schemas.microsoft.com/office/powerpoint/2010/main" val="1712918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9DFD3-5F55-7DD8-178A-FBDC9C4178D3}"/>
              </a:ext>
            </a:extLst>
          </p:cNvPr>
          <p:cNvSpPr>
            <a:spLocks noGrp="1"/>
          </p:cNvSpPr>
          <p:nvPr>
            <p:ph type="title"/>
          </p:nvPr>
        </p:nvSpPr>
        <p:spPr/>
        <p:txBody>
          <a:bodyPr/>
          <a:lstStyle/>
          <a:p>
            <a:r>
              <a:rPr lang="en-US"/>
              <a:t>Machine Learning: Conclusion</a:t>
            </a:r>
          </a:p>
        </p:txBody>
      </p:sp>
      <p:sp>
        <p:nvSpPr>
          <p:cNvPr id="3" name="Content Placeholder 2">
            <a:extLst>
              <a:ext uri="{FF2B5EF4-FFF2-40B4-BE49-F238E27FC236}">
                <a16:creationId xmlns:a16="http://schemas.microsoft.com/office/drawing/2014/main" id="{2B07BFD5-E268-CFA1-096C-318159D7392A}"/>
              </a:ext>
            </a:extLst>
          </p:cNvPr>
          <p:cNvSpPr>
            <a:spLocks noGrp="1"/>
          </p:cNvSpPr>
          <p:nvPr>
            <p:ph idx="1"/>
          </p:nvPr>
        </p:nvSpPr>
        <p:spPr/>
        <p:txBody>
          <a:bodyPr vert="horz" lIns="91440" tIns="45720" rIns="91440" bIns="45720" rtlCol="0" anchor="t">
            <a:normAutofit/>
          </a:bodyPr>
          <a:lstStyle/>
          <a:p>
            <a:r>
              <a:rPr lang="en-US"/>
              <a:t>The model can reliably differentiate breast cancer types, HOWEVER:</a:t>
            </a:r>
          </a:p>
          <a:p>
            <a:pPr lvl="1">
              <a:buFont typeface="Courier New" panose="020B0604020202020204" pitchFamily="34" charset="0"/>
              <a:buChar char="o"/>
            </a:pPr>
            <a:r>
              <a:rPr lang="en-US" dirty="0"/>
              <a:t>The low amount of samples gives us a low confidence that this model could work at a larger scale</a:t>
            </a:r>
          </a:p>
          <a:p>
            <a:pPr lvl="1">
              <a:buFont typeface="Courier New" panose="020B0604020202020204" pitchFamily="34" charset="0"/>
              <a:buChar char="o"/>
            </a:pPr>
            <a:r>
              <a:rPr lang="en-US" dirty="0"/>
              <a:t>The dataset only contains data from patients already diagnosed with breast cancer, meaning that it cannot be used to diagnose the undiagnosed.</a:t>
            </a:r>
          </a:p>
          <a:p>
            <a:pPr lvl="1">
              <a:buFont typeface="Courier New" panose="020B0604020202020204" pitchFamily="34" charset="0"/>
              <a:buChar char="o"/>
            </a:pPr>
            <a:endParaRPr lang="en-US" dirty="0"/>
          </a:p>
          <a:p>
            <a:r>
              <a:rPr lang="en-US"/>
              <a:t>For a better model, we would like:</a:t>
            </a:r>
          </a:p>
          <a:p>
            <a:pPr lvl="1">
              <a:buFont typeface="Courier New" panose="020B0604020202020204" pitchFamily="34" charset="0"/>
              <a:buChar char="o"/>
            </a:pPr>
            <a:r>
              <a:rPr lang="en-US"/>
              <a:t>More samples, and;</a:t>
            </a:r>
          </a:p>
          <a:p>
            <a:pPr lvl="1">
              <a:buFont typeface="Courier New" panose="020B0604020202020204" pitchFamily="34" charset="0"/>
              <a:buChar char="o"/>
            </a:pPr>
            <a:r>
              <a:rPr lang="en-US"/>
              <a:t>Samples from people WITHOUT breast cancer.</a:t>
            </a:r>
            <a:endParaRPr lang="en-US" dirty="0"/>
          </a:p>
        </p:txBody>
      </p:sp>
    </p:spTree>
    <p:extLst>
      <p:ext uri="{BB962C8B-B14F-4D97-AF65-F5344CB8AC3E}">
        <p14:creationId xmlns:p14="http://schemas.microsoft.com/office/powerpoint/2010/main" val="2982495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01719-67C6-C86A-8718-C373FAB1AB24}"/>
              </a:ext>
            </a:extLst>
          </p:cNvPr>
          <p:cNvSpPr>
            <a:spLocks noGrp="1"/>
          </p:cNvSpPr>
          <p:nvPr>
            <p:ph type="title"/>
          </p:nvPr>
        </p:nvSpPr>
        <p:spPr/>
        <p:txBody>
          <a:bodyPr/>
          <a:lstStyle/>
          <a:p>
            <a:r>
              <a:rPr lang="en-US"/>
              <a:t>Deep Learning: The Dataset</a:t>
            </a:r>
          </a:p>
        </p:txBody>
      </p:sp>
      <p:sp>
        <p:nvSpPr>
          <p:cNvPr id="3" name="Content Placeholder 2">
            <a:extLst>
              <a:ext uri="{FF2B5EF4-FFF2-40B4-BE49-F238E27FC236}">
                <a16:creationId xmlns:a16="http://schemas.microsoft.com/office/drawing/2014/main" id="{F8EB6EEC-1DE9-CB37-7509-4C24226D1C27}"/>
              </a:ext>
            </a:extLst>
          </p:cNvPr>
          <p:cNvSpPr>
            <a:spLocks noGrp="1"/>
          </p:cNvSpPr>
          <p:nvPr>
            <p:ph idx="1"/>
          </p:nvPr>
        </p:nvSpPr>
        <p:spPr>
          <a:xfrm>
            <a:off x="838200" y="1825625"/>
            <a:ext cx="5258905" cy="4351338"/>
          </a:xfrm>
        </p:spPr>
        <p:txBody>
          <a:bodyPr vert="horz" lIns="91440" tIns="45720" rIns="91440" bIns="45720" rtlCol="0" anchor="t">
            <a:normAutofit/>
          </a:bodyPr>
          <a:lstStyle/>
          <a:p>
            <a:endParaRPr lang="en-US" sz="2400" dirty="0"/>
          </a:p>
          <a:p>
            <a:r>
              <a:rPr lang="en-US" sz="2400"/>
              <a:t>Tens of thousands of samples</a:t>
            </a:r>
            <a:endParaRPr lang="en-US" sz="2400" dirty="0"/>
          </a:p>
          <a:p>
            <a:endParaRPr lang="en-US" sz="2400" dirty="0"/>
          </a:p>
          <a:p>
            <a:r>
              <a:rPr lang="en-US" sz="2400"/>
              <a:t>Each sample is an image of 28x28</a:t>
            </a:r>
            <a:endParaRPr lang="en-US" sz="2400" dirty="0"/>
          </a:p>
          <a:p>
            <a:endParaRPr lang="en-US" sz="2400" dirty="0"/>
          </a:p>
          <a:p>
            <a:r>
              <a:rPr lang="en-US" sz="2400"/>
              <a:t>No color; each pixel is just 1 feature</a:t>
            </a:r>
            <a:endParaRPr lang="en-US" sz="2400" dirty="0"/>
          </a:p>
          <a:p>
            <a:endParaRPr lang="en-US" sz="2400" dirty="0"/>
          </a:p>
          <a:p>
            <a:r>
              <a:rPr lang="en-US" sz="2400"/>
              <a:t>10 different classifications</a:t>
            </a:r>
            <a:endParaRPr lang="en-US" sz="2400" dirty="0"/>
          </a:p>
        </p:txBody>
      </p:sp>
      <p:pic>
        <p:nvPicPr>
          <p:cNvPr id="4" name="Picture 3" descr="A close-up of a variety of clothes&#10;&#10;AI-generated content may be incorrect.">
            <a:extLst>
              <a:ext uri="{FF2B5EF4-FFF2-40B4-BE49-F238E27FC236}">
                <a16:creationId xmlns:a16="http://schemas.microsoft.com/office/drawing/2014/main" id="{947605D3-7AEC-A6C6-0575-B2ABDEA77952}"/>
              </a:ext>
            </a:extLst>
          </p:cNvPr>
          <p:cNvPicPr>
            <a:picLocks noChangeAspect="1"/>
          </p:cNvPicPr>
          <p:nvPr/>
        </p:nvPicPr>
        <p:blipFill>
          <a:blip r:embed="rId2"/>
          <a:stretch>
            <a:fillRect/>
          </a:stretch>
        </p:blipFill>
        <p:spPr>
          <a:xfrm>
            <a:off x="7705242" y="1588673"/>
            <a:ext cx="4048125" cy="4829175"/>
          </a:xfrm>
          <a:prstGeom prst="rect">
            <a:avLst/>
          </a:prstGeom>
        </p:spPr>
      </p:pic>
    </p:spTree>
    <p:extLst>
      <p:ext uri="{BB962C8B-B14F-4D97-AF65-F5344CB8AC3E}">
        <p14:creationId xmlns:p14="http://schemas.microsoft.com/office/powerpoint/2010/main" val="2219395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E542-0C00-4C4A-569F-66ADB966D5E5}"/>
              </a:ext>
            </a:extLst>
          </p:cNvPr>
          <p:cNvSpPr>
            <a:spLocks noGrp="1"/>
          </p:cNvSpPr>
          <p:nvPr>
            <p:ph type="title"/>
          </p:nvPr>
        </p:nvSpPr>
        <p:spPr/>
        <p:txBody>
          <a:bodyPr/>
          <a:lstStyle/>
          <a:p>
            <a:r>
              <a:rPr lang="en-US" dirty="0"/>
              <a:t>Deep Learning: Data Prepro</a:t>
            </a:r>
            <a:r>
              <a:rPr lang="en-US"/>
              <a:t>cessing</a:t>
            </a:r>
          </a:p>
        </p:txBody>
      </p:sp>
      <p:sp>
        <p:nvSpPr>
          <p:cNvPr id="3" name="Content Placeholder 2">
            <a:extLst>
              <a:ext uri="{FF2B5EF4-FFF2-40B4-BE49-F238E27FC236}">
                <a16:creationId xmlns:a16="http://schemas.microsoft.com/office/drawing/2014/main" id="{305FA7EF-E30B-E2D5-22F5-B8A27436BF3B}"/>
              </a:ext>
            </a:extLst>
          </p:cNvPr>
          <p:cNvSpPr>
            <a:spLocks noGrp="1"/>
          </p:cNvSpPr>
          <p:nvPr>
            <p:ph idx="1"/>
          </p:nvPr>
        </p:nvSpPr>
        <p:spPr/>
        <p:txBody>
          <a:bodyPr vert="horz" lIns="91440" tIns="45720" rIns="91440" bIns="45720" rtlCol="0" anchor="t">
            <a:normAutofit/>
          </a:bodyPr>
          <a:lstStyle/>
          <a:p>
            <a:r>
              <a:rPr lang="en-US"/>
              <a:t>We normalize the data to speed up the training process</a:t>
            </a:r>
          </a:p>
          <a:p>
            <a:r>
              <a:rPr lang="en-US" dirty="0"/>
              <a:t>The images look strange to us, but aren't a problem for the NN</a:t>
            </a:r>
          </a:p>
        </p:txBody>
      </p:sp>
      <p:pic>
        <p:nvPicPr>
          <p:cNvPr id="4" name="Picture 3">
            <a:extLst>
              <a:ext uri="{FF2B5EF4-FFF2-40B4-BE49-F238E27FC236}">
                <a16:creationId xmlns:a16="http://schemas.microsoft.com/office/drawing/2014/main" id="{FB1D15A1-52B7-DF2A-6819-0DB5C376C13B}"/>
              </a:ext>
            </a:extLst>
          </p:cNvPr>
          <p:cNvPicPr>
            <a:picLocks noChangeAspect="1"/>
          </p:cNvPicPr>
          <p:nvPr/>
        </p:nvPicPr>
        <p:blipFill>
          <a:blip r:embed="rId2"/>
          <a:stretch>
            <a:fillRect/>
          </a:stretch>
        </p:blipFill>
        <p:spPr>
          <a:xfrm>
            <a:off x="841167" y="3177967"/>
            <a:ext cx="2900708" cy="3008934"/>
          </a:xfrm>
          <a:prstGeom prst="rect">
            <a:avLst/>
          </a:prstGeom>
        </p:spPr>
      </p:pic>
      <p:pic>
        <p:nvPicPr>
          <p:cNvPr id="5" name="Picture 4" descr="A pixelated image of a person&#10;&#10;AI-generated content may be incorrect.">
            <a:extLst>
              <a:ext uri="{FF2B5EF4-FFF2-40B4-BE49-F238E27FC236}">
                <a16:creationId xmlns:a16="http://schemas.microsoft.com/office/drawing/2014/main" id="{7218492C-1FA5-A0D8-0629-7CD5C8FEFD98}"/>
              </a:ext>
            </a:extLst>
          </p:cNvPr>
          <p:cNvPicPr>
            <a:picLocks noChangeAspect="1"/>
          </p:cNvPicPr>
          <p:nvPr/>
        </p:nvPicPr>
        <p:blipFill>
          <a:blip r:embed="rId3"/>
          <a:stretch>
            <a:fillRect/>
          </a:stretch>
        </p:blipFill>
        <p:spPr>
          <a:xfrm>
            <a:off x="4706385" y="3177968"/>
            <a:ext cx="2768186" cy="3008932"/>
          </a:xfrm>
          <a:prstGeom prst="rect">
            <a:avLst/>
          </a:prstGeom>
        </p:spPr>
      </p:pic>
      <p:pic>
        <p:nvPicPr>
          <p:cNvPr id="6" name="Picture 5" descr="A pixelated image of a coat&#10;&#10;AI-generated content may be incorrect.">
            <a:extLst>
              <a:ext uri="{FF2B5EF4-FFF2-40B4-BE49-F238E27FC236}">
                <a16:creationId xmlns:a16="http://schemas.microsoft.com/office/drawing/2014/main" id="{7D55B214-02E0-DC0D-F6C6-0F68135A5CD6}"/>
              </a:ext>
            </a:extLst>
          </p:cNvPr>
          <p:cNvPicPr>
            <a:picLocks noChangeAspect="1"/>
          </p:cNvPicPr>
          <p:nvPr/>
        </p:nvPicPr>
        <p:blipFill>
          <a:blip r:embed="rId4"/>
          <a:stretch>
            <a:fillRect/>
          </a:stretch>
        </p:blipFill>
        <p:spPr>
          <a:xfrm>
            <a:off x="8494298" y="3177968"/>
            <a:ext cx="2856534" cy="3008934"/>
          </a:xfrm>
          <a:prstGeom prst="rect">
            <a:avLst/>
          </a:prstGeom>
        </p:spPr>
      </p:pic>
    </p:spTree>
    <p:extLst>
      <p:ext uri="{BB962C8B-B14F-4D97-AF65-F5344CB8AC3E}">
        <p14:creationId xmlns:p14="http://schemas.microsoft.com/office/powerpoint/2010/main" val="280570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477E-1666-62A7-E0E0-C4C76608D391}"/>
              </a:ext>
            </a:extLst>
          </p:cNvPr>
          <p:cNvSpPr>
            <a:spLocks noGrp="1"/>
          </p:cNvSpPr>
          <p:nvPr>
            <p:ph type="title"/>
          </p:nvPr>
        </p:nvSpPr>
        <p:spPr/>
        <p:txBody>
          <a:bodyPr/>
          <a:lstStyle/>
          <a:p>
            <a:r>
              <a:rPr lang="en-US"/>
              <a:t>Deep Learning: Training the model</a:t>
            </a:r>
          </a:p>
        </p:txBody>
      </p:sp>
      <p:sp>
        <p:nvSpPr>
          <p:cNvPr id="3" name="Content Placeholder 2">
            <a:extLst>
              <a:ext uri="{FF2B5EF4-FFF2-40B4-BE49-F238E27FC236}">
                <a16:creationId xmlns:a16="http://schemas.microsoft.com/office/drawing/2014/main" id="{07FE7405-252E-2016-48E7-879887B2326C}"/>
              </a:ext>
            </a:extLst>
          </p:cNvPr>
          <p:cNvSpPr>
            <a:spLocks noGrp="1"/>
          </p:cNvSpPr>
          <p:nvPr>
            <p:ph idx="1"/>
          </p:nvPr>
        </p:nvSpPr>
        <p:spPr>
          <a:xfrm>
            <a:off x="838200" y="1693103"/>
            <a:ext cx="5258904" cy="4693686"/>
          </a:xfrm>
        </p:spPr>
        <p:txBody>
          <a:bodyPr vert="horz" lIns="91440" tIns="45720" rIns="91440" bIns="45720" rtlCol="0" anchor="t">
            <a:normAutofit/>
          </a:bodyPr>
          <a:lstStyle/>
          <a:p>
            <a:endParaRPr lang="en-US" sz="2400" dirty="0"/>
          </a:p>
          <a:p>
            <a:r>
              <a:rPr lang="en-US" sz="2400"/>
              <a:t>Not too many layers were needed</a:t>
            </a:r>
            <a:endParaRPr lang="en-US"/>
          </a:p>
          <a:p>
            <a:endParaRPr lang="en-US" sz="2400" dirty="0"/>
          </a:p>
          <a:p>
            <a:r>
              <a:rPr lang="en-US" sz="2400" err="1"/>
              <a:t>MaxPooling</a:t>
            </a:r>
            <a:r>
              <a:rPr lang="en-US" sz="2400"/>
              <a:t> is used to make the training more efficient and not miss the most important features</a:t>
            </a:r>
          </a:p>
          <a:p>
            <a:endParaRPr lang="en-US" sz="2400" dirty="0"/>
          </a:p>
          <a:p>
            <a:r>
              <a:rPr lang="en-US" sz="2400"/>
              <a:t>Dropout is used to prevent overfitting and improve generalization of the NN</a:t>
            </a:r>
            <a:endParaRPr lang="en-US" sz="2400" dirty="0"/>
          </a:p>
        </p:txBody>
      </p:sp>
      <p:pic>
        <p:nvPicPr>
          <p:cNvPr id="4" name="Picture 3" descr="A table with text and numbers&#10;&#10;AI-generated content may be incorrect.">
            <a:extLst>
              <a:ext uri="{FF2B5EF4-FFF2-40B4-BE49-F238E27FC236}">
                <a16:creationId xmlns:a16="http://schemas.microsoft.com/office/drawing/2014/main" id="{B9C203F0-D0BF-9BE2-6D59-03E78330BD76}"/>
              </a:ext>
            </a:extLst>
          </p:cNvPr>
          <p:cNvPicPr>
            <a:picLocks noChangeAspect="1"/>
          </p:cNvPicPr>
          <p:nvPr/>
        </p:nvPicPr>
        <p:blipFill>
          <a:blip r:embed="rId2"/>
          <a:stretch>
            <a:fillRect/>
          </a:stretch>
        </p:blipFill>
        <p:spPr>
          <a:xfrm>
            <a:off x="6388031" y="2133186"/>
            <a:ext cx="5534025" cy="4248150"/>
          </a:xfrm>
          <a:prstGeom prst="rect">
            <a:avLst/>
          </a:prstGeom>
        </p:spPr>
      </p:pic>
    </p:spTree>
    <p:extLst>
      <p:ext uri="{BB962C8B-B14F-4D97-AF65-F5344CB8AC3E}">
        <p14:creationId xmlns:p14="http://schemas.microsoft.com/office/powerpoint/2010/main" val="3230843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2D960-F8DE-A128-0D5B-9AEF2AFF9A1B}"/>
              </a:ext>
            </a:extLst>
          </p:cNvPr>
          <p:cNvSpPr>
            <a:spLocks noGrp="1"/>
          </p:cNvSpPr>
          <p:nvPr>
            <p:ph type="title"/>
          </p:nvPr>
        </p:nvSpPr>
        <p:spPr/>
        <p:txBody>
          <a:bodyPr/>
          <a:lstStyle/>
          <a:p>
            <a:r>
              <a:rPr lang="en-US"/>
              <a:t>Deep learning: Evaluating the model</a:t>
            </a:r>
          </a:p>
        </p:txBody>
      </p:sp>
      <p:sp>
        <p:nvSpPr>
          <p:cNvPr id="3" name="Content Placeholder 2">
            <a:extLst>
              <a:ext uri="{FF2B5EF4-FFF2-40B4-BE49-F238E27FC236}">
                <a16:creationId xmlns:a16="http://schemas.microsoft.com/office/drawing/2014/main" id="{20DEEB73-9AFE-09D5-3E3C-BA463F187024}"/>
              </a:ext>
            </a:extLst>
          </p:cNvPr>
          <p:cNvSpPr>
            <a:spLocks noGrp="1"/>
          </p:cNvSpPr>
          <p:nvPr>
            <p:ph idx="1"/>
          </p:nvPr>
        </p:nvSpPr>
        <p:spPr>
          <a:xfrm>
            <a:off x="286026" y="2278408"/>
            <a:ext cx="2763079" cy="4351338"/>
          </a:xfrm>
        </p:spPr>
        <p:txBody>
          <a:bodyPr vert="horz" lIns="91440" tIns="45720" rIns="91440" bIns="45720" rtlCol="0" anchor="t">
            <a:normAutofit fontScale="92500"/>
          </a:bodyPr>
          <a:lstStyle/>
          <a:p>
            <a:endParaRPr lang="en-US" sz="2000" dirty="0"/>
          </a:p>
          <a:p>
            <a:r>
              <a:rPr lang="en-US" sz="2000"/>
              <a:t>Accuracy:</a:t>
            </a:r>
            <a:endParaRPr lang="en-US" sz="2000" dirty="0"/>
          </a:p>
          <a:p>
            <a:pPr lvl="1">
              <a:buFont typeface="Courier New" panose="020B0604020202020204" pitchFamily="34" charset="0"/>
              <a:buChar char="o"/>
            </a:pPr>
            <a:r>
              <a:rPr lang="en-US" sz="2000"/>
              <a:t>Train:                0.96 </a:t>
            </a:r>
            <a:endParaRPr lang="en-US" sz="2000" dirty="0"/>
          </a:p>
          <a:p>
            <a:pPr lvl="1">
              <a:buFont typeface="Courier New" panose="020B0604020202020204" pitchFamily="34" charset="0"/>
              <a:buChar char="o"/>
            </a:pPr>
            <a:r>
              <a:rPr lang="en-US" sz="2000"/>
              <a:t>Validation: 0.93</a:t>
            </a:r>
            <a:endParaRPr lang="en-US" sz="2000" dirty="0"/>
          </a:p>
          <a:p>
            <a:pPr lvl="1">
              <a:buFont typeface="Courier New" panose="020B0604020202020204" pitchFamily="34" charset="0"/>
              <a:buChar char="o"/>
            </a:pPr>
            <a:r>
              <a:rPr lang="en-US" sz="2000"/>
              <a:t>Test:      0.92</a:t>
            </a:r>
            <a:endParaRPr lang="en-US" sz="2000" dirty="0"/>
          </a:p>
          <a:p>
            <a:pPr lvl="1">
              <a:buFont typeface="Courier New" panose="020B0604020202020204" pitchFamily="34" charset="0"/>
              <a:buChar char="o"/>
            </a:pPr>
            <a:endParaRPr lang="en-US" sz="2000" dirty="0"/>
          </a:p>
          <a:p>
            <a:r>
              <a:rPr lang="en-US" sz="2000"/>
              <a:t>Loss:</a:t>
            </a:r>
            <a:endParaRPr lang="en-US" sz="2000" dirty="0"/>
          </a:p>
          <a:p>
            <a:pPr lvl="1">
              <a:buFont typeface="Courier New" panose="020B0604020202020204" pitchFamily="34" charset="0"/>
              <a:buChar char="o"/>
            </a:pPr>
            <a:r>
              <a:rPr lang="en-US" sz="2000"/>
              <a:t>Train:    0.12</a:t>
            </a:r>
            <a:endParaRPr lang="en-US" sz="2000" dirty="0"/>
          </a:p>
          <a:p>
            <a:pPr lvl="1">
              <a:buFont typeface="Courier New" panose="020B0604020202020204" pitchFamily="34" charset="0"/>
              <a:buChar char="o"/>
            </a:pPr>
            <a:r>
              <a:rPr lang="en-US" sz="2000"/>
              <a:t>Validation: 0.22</a:t>
            </a:r>
            <a:endParaRPr lang="en-US" sz="2000" dirty="0"/>
          </a:p>
          <a:p>
            <a:pPr lvl="1">
              <a:buFont typeface="Courier New" panose="020B0604020202020204" pitchFamily="34" charset="0"/>
              <a:buChar char="o"/>
            </a:pPr>
            <a:r>
              <a:rPr lang="en-US" sz="2000"/>
              <a:t>Test:      0.24</a:t>
            </a:r>
            <a:endParaRPr lang="en-US" sz="2000" dirty="0"/>
          </a:p>
        </p:txBody>
      </p:sp>
      <p:pic>
        <p:nvPicPr>
          <p:cNvPr id="5" name="Picture 4" descr="A graph with blue and orange lines&#10;&#10;AI-generated content may be incorrect.">
            <a:extLst>
              <a:ext uri="{FF2B5EF4-FFF2-40B4-BE49-F238E27FC236}">
                <a16:creationId xmlns:a16="http://schemas.microsoft.com/office/drawing/2014/main" id="{D594B9A2-E235-9327-5DAE-21DD77BB546C}"/>
              </a:ext>
            </a:extLst>
          </p:cNvPr>
          <p:cNvPicPr>
            <a:picLocks noChangeAspect="1"/>
          </p:cNvPicPr>
          <p:nvPr/>
        </p:nvPicPr>
        <p:blipFill>
          <a:blip r:embed="rId2"/>
          <a:stretch>
            <a:fillRect/>
          </a:stretch>
        </p:blipFill>
        <p:spPr>
          <a:xfrm>
            <a:off x="3045101" y="2309674"/>
            <a:ext cx="4423190" cy="4314825"/>
          </a:xfrm>
          <a:prstGeom prst="rect">
            <a:avLst/>
          </a:prstGeom>
        </p:spPr>
      </p:pic>
      <p:pic>
        <p:nvPicPr>
          <p:cNvPr id="6" name="Picture 5" descr="A graph with blue and orange lines&#10;&#10;AI-generated content may be incorrect.">
            <a:extLst>
              <a:ext uri="{FF2B5EF4-FFF2-40B4-BE49-F238E27FC236}">
                <a16:creationId xmlns:a16="http://schemas.microsoft.com/office/drawing/2014/main" id="{13CC04E0-D020-F540-9671-DE150068E29D}"/>
              </a:ext>
            </a:extLst>
          </p:cNvPr>
          <p:cNvPicPr>
            <a:picLocks noChangeAspect="1"/>
          </p:cNvPicPr>
          <p:nvPr/>
        </p:nvPicPr>
        <p:blipFill>
          <a:blip r:embed="rId3"/>
          <a:stretch>
            <a:fillRect/>
          </a:stretch>
        </p:blipFill>
        <p:spPr>
          <a:xfrm>
            <a:off x="7538484" y="2309674"/>
            <a:ext cx="4657726" cy="4314825"/>
          </a:xfrm>
          <a:prstGeom prst="rect">
            <a:avLst/>
          </a:prstGeom>
        </p:spPr>
      </p:pic>
    </p:spTree>
    <p:extLst>
      <p:ext uri="{BB962C8B-B14F-4D97-AF65-F5344CB8AC3E}">
        <p14:creationId xmlns:p14="http://schemas.microsoft.com/office/powerpoint/2010/main" val="1129386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EFC95-4155-7F25-04F8-65B6C426018C}"/>
              </a:ext>
            </a:extLst>
          </p:cNvPr>
          <p:cNvSpPr>
            <a:spLocks noGrp="1"/>
          </p:cNvSpPr>
          <p:nvPr>
            <p:ph type="title"/>
          </p:nvPr>
        </p:nvSpPr>
        <p:spPr/>
        <p:txBody>
          <a:bodyPr/>
          <a:lstStyle/>
          <a:p>
            <a:r>
              <a:rPr lang="en-US"/>
              <a:t>Deep Learning: Using SHAP (1)</a:t>
            </a:r>
          </a:p>
        </p:txBody>
      </p:sp>
      <p:sp>
        <p:nvSpPr>
          <p:cNvPr id="3" name="Content Placeholder 2">
            <a:extLst>
              <a:ext uri="{FF2B5EF4-FFF2-40B4-BE49-F238E27FC236}">
                <a16:creationId xmlns:a16="http://schemas.microsoft.com/office/drawing/2014/main" id="{5458FC79-7FC5-4DC2-E149-57FFDE91E531}"/>
              </a:ext>
            </a:extLst>
          </p:cNvPr>
          <p:cNvSpPr>
            <a:spLocks noGrp="1"/>
          </p:cNvSpPr>
          <p:nvPr>
            <p:ph idx="1"/>
          </p:nvPr>
        </p:nvSpPr>
        <p:spPr>
          <a:xfrm>
            <a:off x="-1104" y="1693103"/>
            <a:ext cx="5833165" cy="5058120"/>
          </a:xfrm>
        </p:spPr>
        <p:txBody>
          <a:bodyPr vert="horz" lIns="91440" tIns="45720" rIns="91440" bIns="45720" rtlCol="0" anchor="t">
            <a:normAutofit/>
          </a:bodyPr>
          <a:lstStyle/>
          <a:p>
            <a:r>
              <a:rPr lang="en-US" sz="2400" dirty="0"/>
              <a:t>Using </a:t>
            </a:r>
            <a:r>
              <a:rPr lang="en-US" sz="2400" err="1"/>
              <a:t>SHAPley</a:t>
            </a:r>
            <a:r>
              <a:rPr lang="en-US" sz="2400" dirty="0"/>
              <a:t> values, we can determine the pixels that are more </a:t>
            </a:r>
            <a:r>
              <a:rPr lang="en-US" sz="2400"/>
              <a:t>or less important in classifying the images</a:t>
            </a:r>
          </a:p>
          <a:p>
            <a:endParaRPr lang="en-US" sz="2400" dirty="0"/>
          </a:p>
          <a:p>
            <a:r>
              <a:rPr lang="en-US" sz="2400"/>
              <a:t>In the image matrix on the right, red pixels mean that those pixels from the image of that row are more likely to classify the image with the class of that column.</a:t>
            </a:r>
          </a:p>
          <a:p>
            <a:r>
              <a:rPr lang="en-US" sz="2400"/>
              <a:t>Blue indicates the opposite.</a:t>
            </a:r>
          </a:p>
          <a:p>
            <a:endParaRPr lang="en-US" sz="2400" dirty="0"/>
          </a:p>
          <a:p>
            <a:r>
              <a:rPr lang="en-US" sz="2400"/>
              <a:t>Let us take a closer look...</a:t>
            </a:r>
            <a:endParaRPr lang="en-US" sz="2400" dirty="0"/>
          </a:p>
        </p:txBody>
      </p:sp>
      <p:pic>
        <p:nvPicPr>
          <p:cNvPr id="4" name="Picture 3" descr="A white coat with black text&#10;&#10;AI-generated content may be incorrect.">
            <a:extLst>
              <a:ext uri="{FF2B5EF4-FFF2-40B4-BE49-F238E27FC236}">
                <a16:creationId xmlns:a16="http://schemas.microsoft.com/office/drawing/2014/main" id="{C36D016F-A7A3-865E-2EC1-4F7D7E081102}"/>
              </a:ext>
            </a:extLst>
          </p:cNvPr>
          <p:cNvPicPr>
            <a:picLocks noChangeAspect="1"/>
          </p:cNvPicPr>
          <p:nvPr/>
        </p:nvPicPr>
        <p:blipFill>
          <a:blip r:embed="rId2"/>
          <a:stretch>
            <a:fillRect/>
          </a:stretch>
        </p:blipFill>
        <p:spPr>
          <a:xfrm>
            <a:off x="5919305" y="1709843"/>
            <a:ext cx="6073913" cy="721619"/>
          </a:xfrm>
          <a:prstGeom prst="rect">
            <a:avLst/>
          </a:prstGeom>
        </p:spPr>
      </p:pic>
      <p:pic>
        <p:nvPicPr>
          <p:cNvPr id="5" name="Picture 4" descr="A screenshot of a computer screen&#10;&#10;AI-generated content may be incorrect.">
            <a:extLst>
              <a:ext uri="{FF2B5EF4-FFF2-40B4-BE49-F238E27FC236}">
                <a16:creationId xmlns:a16="http://schemas.microsoft.com/office/drawing/2014/main" id="{BB6FA08A-E3F8-FFA5-EF0B-67F308B167F7}"/>
              </a:ext>
            </a:extLst>
          </p:cNvPr>
          <p:cNvPicPr>
            <a:picLocks noChangeAspect="1"/>
          </p:cNvPicPr>
          <p:nvPr/>
        </p:nvPicPr>
        <p:blipFill>
          <a:blip r:embed="rId3"/>
          <a:stretch>
            <a:fillRect/>
          </a:stretch>
        </p:blipFill>
        <p:spPr>
          <a:xfrm>
            <a:off x="5919191" y="2429565"/>
            <a:ext cx="6074140" cy="4428435"/>
          </a:xfrm>
          <a:prstGeom prst="rect">
            <a:avLst/>
          </a:prstGeom>
        </p:spPr>
      </p:pic>
    </p:spTree>
    <p:extLst>
      <p:ext uri="{BB962C8B-B14F-4D97-AF65-F5344CB8AC3E}">
        <p14:creationId xmlns:p14="http://schemas.microsoft.com/office/powerpoint/2010/main" val="629466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4EEF-9E17-9C3A-F66C-A18B2FC35303}"/>
              </a:ext>
            </a:extLst>
          </p:cNvPr>
          <p:cNvSpPr>
            <a:spLocks noGrp="1"/>
          </p:cNvSpPr>
          <p:nvPr>
            <p:ph type="title"/>
          </p:nvPr>
        </p:nvSpPr>
        <p:spPr/>
        <p:txBody>
          <a:bodyPr/>
          <a:lstStyle/>
          <a:p>
            <a:r>
              <a:rPr lang="en-US"/>
              <a:t>Deep Learning: Using SHAP (2)</a:t>
            </a:r>
          </a:p>
        </p:txBody>
      </p:sp>
      <p:sp>
        <p:nvSpPr>
          <p:cNvPr id="3" name="Content Placeholder 2">
            <a:extLst>
              <a:ext uri="{FF2B5EF4-FFF2-40B4-BE49-F238E27FC236}">
                <a16:creationId xmlns:a16="http://schemas.microsoft.com/office/drawing/2014/main" id="{D47EF635-FE13-3828-6481-F4525E2919B7}"/>
              </a:ext>
            </a:extLst>
          </p:cNvPr>
          <p:cNvSpPr>
            <a:spLocks noGrp="1"/>
          </p:cNvSpPr>
          <p:nvPr>
            <p:ph idx="1"/>
          </p:nvPr>
        </p:nvSpPr>
        <p:spPr>
          <a:xfrm>
            <a:off x="838200" y="1825625"/>
            <a:ext cx="4850296" cy="4351338"/>
          </a:xfrm>
        </p:spPr>
        <p:txBody>
          <a:bodyPr vert="horz" lIns="91440" tIns="45720" rIns="91440" bIns="45720" rtlCol="0" anchor="t">
            <a:normAutofit/>
          </a:bodyPr>
          <a:lstStyle/>
          <a:p>
            <a:endParaRPr lang="en-US" dirty="0"/>
          </a:p>
          <a:p>
            <a:endParaRPr lang="en-US" dirty="0"/>
          </a:p>
          <a:p>
            <a:r>
              <a:rPr lang="en-US"/>
              <a:t>When taking a closer look, </a:t>
            </a:r>
            <a:r>
              <a:rPr lang="en-US" dirty="0"/>
              <a:t>we can see clearly that the model differe</a:t>
            </a:r>
            <a:r>
              <a:rPr lang="en-US"/>
              <a:t>ntiates between t-shirts and pullovers by the length of the sleeves.</a:t>
            </a:r>
          </a:p>
        </p:txBody>
      </p:sp>
      <p:pic>
        <p:nvPicPr>
          <p:cNvPr id="4" name="Picture 3" descr="A collage of different types of clothes&#10;&#10;AI-generated content may be incorrect.">
            <a:extLst>
              <a:ext uri="{FF2B5EF4-FFF2-40B4-BE49-F238E27FC236}">
                <a16:creationId xmlns:a16="http://schemas.microsoft.com/office/drawing/2014/main" id="{786862BE-8E05-D59E-D2F5-190E31ACADCB}"/>
              </a:ext>
            </a:extLst>
          </p:cNvPr>
          <p:cNvPicPr>
            <a:picLocks noChangeAspect="1"/>
          </p:cNvPicPr>
          <p:nvPr/>
        </p:nvPicPr>
        <p:blipFill>
          <a:blip r:embed="rId2"/>
          <a:stretch>
            <a:fillRect/>
          </a:stretch>
        </p:blipFill>
        <p:spPr>
          <a:xfrm>
            <a:off x="6096345" y="1657488"/>
            <a:ext cx="5476875" cy="4514850"/>
          </a:xfrm>
          <a:prstGeom prst="rect">
            <a:avLst/>
          </a:prstGeom>
        </p:spPr>
      </p:pic>
    </p:spTree>
    <p:extLst>
      <p:ext uri="{BB962C8B-B14F-4D97-AF65-F5344CB8AC3E}">
        <p14:creationId xmlns:p14="http://schemas.microsoft.com/office/powerpoint/2010/main" val="1587792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E220EAC-6BC2-6A7A-ECD6-51E340D00F4C}"/>
              </a:ext>
            </a:extLst>
          </p:cNvPr>
          <p:cNvSpPr>
            <a:spLocks noGrp="1"/>
          </p:cNvSpPr>
          <p:nvPr>
            <p:ph idx="1"/>
          </p:nvPr>
        </p:nvSpPr>
        <p:spPr>
          <a:xfrm>
            <a:off x="474425" y="2198362"/>
            <a:ext cx="6063314" cy="3917773"/>
          </a:xfrm>
        </p:spPr>
        <p:txBody>
          <a:bodyPr vert="horz" lIns="91440" tIns="45720" rIns="91440" bIns="45720" rtlCol="0" anchor="t">
            <a:noAutofit/>
          </a:bodyPr>
          <a:lstStyle/>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a:t>THANK YOU FOR YOUR ATTENTION!</a:t>
            </a:r>
            <a:endParaRPr lang="en-US" b="1" dirty="0"/>
          </a:p>
        </p:txBody>
      </p:sp>
      <p:pic>
        <p:nvPicPr>
          <p:cNvPr id="4" name="Picture 3" descr="A logo with blue dots&#10;&#10;AI-generated content may be incorrect.">
            <a:extLst>
              <a:ext uri="{FF2B5EF4-FFF2-40B4-BE49-F238E27FC236}">
                <a16:creationId xmlns:a16="http://schemas.microsoft.com/office/drawing/2014/main" id="{DE832FA7-2DA9-B334-E156-2D25A57788A8}"/>
              </a:ext>
            </a:extLst>
          </p:cNvPr>
          <p:cNvPicPr>
            <a:picLocks noChangeAspect="1"/>
          </p:cNvPicPr>
          <p:nvPr/>
        </p:nvPicPr>
        <p:blipFill>
          <a:blip r:embed="rId2"/>
          <a:srcRect b="-877"/>
          <a:stretch>
            <a:fillRect/>
          </a:stretch>
        </p:blipFill>
        <p:spPr>
          <a:xfrm>
            <a:off x="6719367" y="3031040"/>
            <a:ext cx="4788505" cy="2063662"/>
          </a:xfrm>
          <a:prstGeom prst="rect">
            <a:avLst/>
          </a:prstGeom>
        </p:spPr>
      </p:pic>
      <p:sp>
        <p:nvSpPr>
          <p:cNvPr id="19" name="Freeform: Shape 1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55422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Machine Learning Exam</vt:lpstr>
      <vt:lpstr>The Assignment</vt:lpstr>
      <vt:lpstr>Machine Learning: The Dataset</vt:lpstr>
      <vt:lpstr>Machine Learning: The Model</vt:lpstr>
      <vt:lpstr>Machine Learning: Evaluating the Model</vt:lpstr>
      <vt:lpstr>Machine Learning: Most Important Features</vt:lpstr>
      <vt:lpstr>Machine Learning: Conclusion</vt:lpstr>
      <vt:lpstr>Deep Learning: The Dataset</vt:lpstr>
      <vt:lpstr>Deep Learning: Data Preprocessing</vt:lpstr>
      <vt:lpstr>Deep Learning: Training the model</vt:lpstr>
      <vt:lpstr>Deep learning: Evaluating the model</vt:lpstr>
      <vt:lpstr>Deep Learning: Using SHAP (1)</vt:lpstr>
      <vt:lpstr>Deep Learning: Using SHAP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282</cp:revision>
  <dcterms:created xsi:type="dcterms:W3CDTF">2026-05-07T12:47:15Z</dcterms:created>
  <dcterms:modified xsi:type="dcterms:W3CDTF">2026-05-07T13:42:19Z</dcterms:modified>
</cp:coreProperties>
</file>